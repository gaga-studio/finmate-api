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시간: 0:00–0:15
발표 메모:
FinMate는 다른 사람의 잔액을 보여주지 않습니다. 나와 비슷한 사람이 실제로 유지한 루틴을 발견하고, 내 상황에 맞는 목표로 바꿔 행동까지 이어줍니다.
근거·주의: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시간: 0:15–0:45
발표 메모:
20대는 재무상황 점검과 장기 목표 설정에서 전체보다 낮은 점수를 보였습니다. 저희는 이 차이를 정보량이 아니라 내 상황에 맞는 첫 행동과 지속 장치의 문제로 봤습니다.
근거·주의:
E-01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시간: 0:45–1:20
발표 메모:
게임과 협력은 가능성이 있지만, 단순히 나보다 나은 사람을 보여주면 역효과가 날 수 있습니다. 그래서 FinMate는 닮은 출발점, 금액 비공개, 순위 제거, 달성 가능한 작은 행동을 설계 원칙으로 삼았습니다.
근거·주의:
E-02
E-03
E-04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시간: 1:20–1:45
발표 메모:
추천 모험가의 루틴을 발견하고, 내 기준에 맞는 목표를 직접 확정합니다. 레이드는 실제 진행을 보여주고, 작은 퀘스트와 동기화 이후 결과가 30일 기록으로 돌아옵니다.
근거·주의: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시간: 1:45–3:15
발표 메모:
시연에서는 목표 없는 홈에서 시작해 추천 모험가의 루틴을 고르고, 세 목표 후보 중 하나를 확정합니다. 자동 레이드와 연결 퀘스트를 거친 뒤 데이터 반영과 기록까지 보여드립니다. 이 화면은 합성데이터 기반 프로토타입입니다.
근거·주의: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시간: 3:15–3:55
발표 메모:
목표 금액이나 기간을 AI가 자유롭게 만들지 않습니다. 검수된 템플릿이 범위를 정하고 코드가 내 기준으로 후보를 계산합니다. AI는 설명하고, 최종 결정은 사용자가 합니다.
근거·주의:
E-10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시간: 3:55–4:45
발표 메모:
기존 합성데이터 import는 기술 검증 자산입니다. AI 영역은 실행 정확도 수치를 주장하지 않고 20문항 골든셋과 평가 러너를 준비한 상태로 구분합니다. 새 버전에서는 OpenAPI, 합성 어댑터, 결정적 계산, 골든 테스트, E2E를 하나의 추적 가능한 계약으로 묶습니다.
근거·주의:
E-05
E-07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시간: 4:45–5:20
발표 메모:
FinMate는 정확 금액과 순위를 노출하지 않고, 투자 수익률이나 거래를 보상하지 않습니다. 목표는 사용자가 확정하고, 동의 철회와 데이터 지연을 제품 상태로 다룹니다.
근거·주의:
E-08
E-09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시간: 5:20–6:10
발표 메모:
첫 검증은 화면 체류가 아니라 추천 카드에서 루틴을 이해하고 목표를 확정한 뒤 검증 가능한 첫 행동을 했는지 봅니다. 동시에 비교 압박과 데이터 불일치를 가드레일로 측정합니다.
근거·주의:
E-11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시간: 6:10–6:50
발표 메모:
FinMate는 사회적 호기심을 비교 압박이 아니라 내 상황에 맞는 작은 금융행동으로 바꾸겠습니다. 먼저 계약과 계산을 고정하고, 핵심 루프를 구현한 뒤 사용성 검증과 제안한 4주 파일럿으로 이어가겠습니다.
근거·주의:
E-11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MATE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996"/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996"/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B82"/>
          </a:solidFill>
          <a:ln w="12700">
            <a:solidFill>
              <a:srgbClr val="009B8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6583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FinMate vNext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" y="1298448"/>
            <a:ext cx="56235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남의 잔액이 아니라,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검증된 루틴을 가져옵니다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68096" y="290779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나와 비슷한 익명 모험가의 금융 루틴을 내 목표로 바꾸고, 실제 행동을 자동 레이드와 기록으로 이어주는 금융 습관 앱</a:t>
            </a:r>
            <a:endParaRPr lang="en-US" sz="1530" dirty="0"/>
          </a:p>
        </p:txBody>
      </p:sp>
      <p:sp>
        <p:nvSpPr>
          <p:cNvPr id="7" name="Shape 5"/>
          <p:cNvSpPr/>
          <p:nvPr/>
        </p:nvSpPr>
        <p:spPr>
          <a:xfrm>
            <a:off x="6601968" y="694944"/>
            <a:ext cx="4809744" cy="5321808"/>
          </a:xfrm>
          <a:prstGeom prst="roundRect">
            <a:avLst>
              <a:gd name="adj" fmla="val 951"/>
            </a:avLst>
          </a:prstGeom>
          <a:solidFill>
            <a:srgbClr val="EDF9F5"/>
          </a:solidFill>
          <a:ln w="10160">
            <a:solidFill>
              <a:srgbClr val="009B82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133856"/>
            <a:ext cx="17373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59168" y="1143000"/>
            <a:ext cx="1737360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비슷한 모험가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869680" y="1417320"/>
            <a:ext cx="182880" cy="0"/>
          </a:xfrm>
          <a:prstGeom prst="line">
            <a:avLst/>
          </a:prstGeom>
          <a:noFill/>
          <a:ln w="25400">
            <a:solidFill>
              <a:srgbClr val="009B8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44000" y="1133856"/>
            <a:ext cx="17373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0" y="1143000"/>
            <a:ext cx="1737360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검증된 루틴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59168" y="2432304"/>
            <a:ext cx="17373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59168" y="2441448"/>
            <a:ext cx="1737360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내 목표 후보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0" y="2715768"/>
            <a:ext cx="182880" cy="0"/>
          </a:xfrm>
          <a:prstGeom prst="line">
            <a:avLst/>
          </a:prstGeom>
          <a:noFill/>
          <a:ln w="25400">
            <a:solidFill>
              <a:srgbClr val="009B8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4000" y="2432304"/>
            <a:ext cx="17373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009B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2441448"/>
            <a:ext cx="1737360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사용자 확정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59168" y="3730752"/>
            <a:ext cx="17373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9168" y="3739896"/>
            <a:ext cx="1737360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자동 레이드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69680" y="4014216"/>
            <a:ext cx="182880" cy="0"/>
          </a:xfrm>
          <a:prstGeom prst="line">
            <a:avLst/>
          </a:prstGeom>
          <a:noFill/>
          <a:ln w="25400">
            <a:solidFill>
              <a:srgbClr val="009B8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44000" y="3730752"/>
            <a:ext cx="17373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0" y="3739896"/>
            <a:ext cx="1737360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30일 기록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68096" y="4754880"/>
            <a:ext cx="4160520" cy="402336"/>
          </a:xfrm>
          <a:prstGeom prst="roundRect">
            <a:avLst>
              <a:gd name="adj" fmla="val 9091"/>
            </a:avLst>
          </a:prstGeom>
          <a:solidFill>
            <a:srgbClr val="E9EFEC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4764024"/>
            <a:ext cx="41605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합성데이터 기반 vNext 설계·프로토타입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68096" y="6080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가가제작소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996"/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7"/>
          </a:solidFill>
          <a:ln w="12700">
            <a:solidFill>
              <a:srgbClr val="F4F9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02336"/>
            <a:ext cx="73152" cy="329184"/>
          </a:xfrm>
          <a:prstGeom prst="rect">
            <a:avLst/>
          </a:prstGeom>
          <a:solidFill>
            <a:srgbClr val="009B82"/>
          </a:solidFill>
          <a:ln w="12700">
            <a:solidFill>
              <a:srgbClr val="009B8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840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PROBLEM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06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20대의 금융문제는 정보 부족보다 행동의 공백입니다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5266944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32688" y="18745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재무상황 점검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24963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6F6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20대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2688" y="277063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96F6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33.2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2231136" y="2935224"/>
            <a:ext cx="3108960" cy="237744"/>
          </a:xfrm>
          <a:prstGeom prst="rect">
            <a:avLst/>
          </a:prstGeom>
          <a:solidFill>
            <a:srgbClr val="E9EFEC"/>
          </a:solidFill>
          <a:ln w="12700">
            <a:solidFill>
              <a:srgbClr val="E9EFE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31136" y="2935224"/>
            <a:ext cx="2064349" cy="237744"/>
          </a:xfrm>
          <a:prstGeom prst="rect">
            <a:avLst/>
          </a:prstGeom>
          <a:solidFill>
            <a:srgbClr val="E96F63"/>
          </a:solidFill>
          <a:ln w="12700">
            <a:solidFill>
              <a:srgbClr val="E96F6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7124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전체 43.4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31136" y="3758184"/>
            <a:ext cx="3108960" cy="182880"/>
          </a:xfrm>
          <a:prstGeom prst="rect">
            <a:avLst/>
          </a:prstGeom>
          <a:solidFill>
            <a:srgbClr val="E9EFEC"/>
          </a:solidFill>
          <a:ln w="12700">
            <a:solidFill>
              <a:srgbClr val="E9EFE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31136" y="3758184"/>
            <a:ext cx="2698577" cy="182880"/>
          </a:xfrm>
          <a:prstGeom prst="rect">
            <a:avLst/>
          </a:prstGeom>
          <a:solidFill>
            <a:srgbClr val="9BA9B5"/>
          </a:solidFill>
          <a:ln w="12700">
            <a:solidFill>
              <a:srgbClr val="9BA9B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4496" y="1627632"/>
            <a:ext cx="5266944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28816" y="18745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장기 재무목표 설정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28816" y="24963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78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20대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28816" y="277063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378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36.1</a:t>
            </a:r>
            <a:endParaRPr lang="en-US" sz="3100" dirty="0"/>
          </a:p>
        </p:txBody>
      </p:sp>
      <p:sp>
        <p:nvSpPr>
          <p:cNvPr id="19" name="Shape 17"/>
          <p:cNvSpPr/>
          <p:nvPr/>
        </p:nvSpPr>
        <p:spPr>
          <a:xfrm>
            <a:off x="7827264" y="2935224"/>
            <a:ext cx="3108960" cy="237744"/>
          </a:xfrm>
          <a:prstGeom prst="rect">
            <a:avLst/>
          </a:prstGeom>
          <a:solidFill>
            <a:srgbClr val="E9EFEC"/>
          </a:solidFill>
          <a:ln w="12700">
            <a:solidFill>
              <a:srgbClr val="E9EFE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27264" y="2935224"/>
            <a:ext cx="2244669" cy="237744"/>
          </a:xfrm>
          <a:prstGeom prst="rect">
            <a:avLst/>
          </a:prstGeom>
          <a:solidFill>
            <a:srgbClr val="3378E6"/>
          </a:solidFill>
          <a:ln w="12700">
            <a:solidFill>
              <a:srgbClr val="3378E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28816" y="37124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전체 42.5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27264" y="3758184"/>
            <a:ext cx="3108960" cy="182880"/>
          </a:xfrm>
          <a:prstGeom prst="rect">
            <a:avLst/>
          </a:prstGeom>
          <a:solidFill>
            <a:srgbClr val="E9EFEC"/>
          </a:solidFill>
          <a:ln w="12700">
            <a:solidFill>
              <a:srgbClr val="E9EFE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27264" y="3758184"/>
            <a:ext cx="2642616" cy="182880"/>
          </a:xfrm>
          <a:prstGeom prst="rect">
            <a:avLst/>
          </a:prstGeom>
          <a:solidFill>
            <a:srgbClr val="9BA9B5"/>
          </a:solidFill>
          <a:ln w="12700">
            <a:solidFill>
              <a:srgbClr val="9BA9B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33856" y="5212080"/>
            <a:ext cx="9930384" cy="603504"/>
          </a:xfrm>
          <a:prstGeom prst="roundRect">
            <a:avLst>
              <a:gd name="adj" fmla="val 7576"/>
            </a:avLst>
          </a:prstGeom>
          <a:solidFill>
            <a:srgbClr val="152B42"/>
          </a:solidFill>
          <a:ln w="10160">
            <a:solidFill>
              <a:srgbClr val="152B42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417320" y="5385816"/>
            <a:ext cx="9372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문제는 더 많은 정보가 아니라, 내 상황에 맞는 첫 행동을 고르고 이어가는 일입니다.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77879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출처: 한국은행·금융감독원, 2024 전국민 금융이해력 조사(전체 n=2,400). E-01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996"/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7"/>
          </a:solidFill>
          <a:ln w="12700">
            <a:solidFill>
              <a:srgbClr val="F4F9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02336"/>
            <a:ext cx="73152" cy="329184"/>
          </a:xfrm>
          <a:prstGeom prst="rect">
            <a:avLst/>
          </a:prstGeom>
          <a:solidFill>
            <a:srgbClr val="009B82"/>
          </a:solidFill>
          <a:ln w="12700">
            <a:solidFill>
              <a:srgbClr val="009B8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840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DESIGN EVIDENCE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06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사회적 호기심은 순위가 아니라 닮은 출발점에서 작동해야 합니다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03504" y="1664208"/>
            <a:ext cx="3364992" cy="3310128"/>
          </a:xfrm>
          <a:prstGeom prst="roundRect">
            <a:avLst>
              <a:gd name="adj" fmla="val 1381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2139696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+0.313 SD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77824" y="2907792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게임형 금융교육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50976" y="3621024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4개국 학생 2,220명 RCT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4160520" y="1664208"/>
            <a:ext cx="3364992" cy="3310128"/>
          </a:xfrm>
          <a:prstGeom prst="roundRect">
            <a:avLst>
              <a:gd name="adj" fmla="val 1381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34840" y="2139696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3378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3.7배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4434840" y="2907792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그룹저축 입금 빈도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07992" y="3621024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칠레 2,687명 실험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7717536" y="1664208"/>
            <a:ext cx="3364992" cy="3310128"/>
          </a:xfrm>
          <a:prstGeom prst="roundRect">
            <a:avLst>
              <a:gd name="adj" fmla="val 1381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91856" y="2139696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E96F6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역효과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7991856" y="2907792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단순 상향 비교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65008" y="3621024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일부 저축 낮은 직원 감소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1078992" y="5321808"/>
            <a:ext cx="2048256" cy="402336"/>
          </a:xfrm>
          <a:prstGeom prst="roundRect">
            <a:avLst>
              <a:gd name="adj" fmla="val 9091"/>
            </a:avLst>
          </a:prstGeom>
          <a:solidFill>
            <a:srgbClr val="152B42"/>
          </a:solidFill>
          <a:ln w="10160">
            <a:solidFill>
              <a:srgbClr val="152B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5330952"/>
            <a:ext cx="204825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유사 출발점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0" y="5321808"/>
            <a:ext cx="2048256" cy="402336"/>
          </a:xfrm>
          <a:prstGeom prst="roundRect">
            <a:avLst>
              <a:gd name="adj" fmla="val 9091"/>
            </a:avLst>
          </a:prstGeom>
          <a:solidFill>
            <a:srgbClr val="152B42"/>
          </a:solidFill>
          <a:ln w="10160">
            <a:solidFill>
              <a:srgbClr val="152B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5330952"/>
            <a:ext cx="204825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정확 금액 비공개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36208" y="5321808"/>
            <a:ext cx="2048256" cy="402336"/>
          </a:xfrm>
          <a:prstGeom prst="roundRect">
            <a:avLst>
              <a:gd name="adj" fmla="val 9091"/>
            </a:avLst>
          </a:prstGeom>
          <a:solidFill>
            <a:srgbClr val="152B42"/>
          </a:solidFill>
          <a:ln w="10160">
            <a:solidFill>
              <a:srgbClr val="152B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5330952"/>
            <a:ext cx="204825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순위 없음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814816" y="5321808"/>
            <a:ext cx="2048256" cy="402336"/>
          </a:xfrm>
          <a:prstGeom prst="roundRect">
            <a:avLst>
              <a:gd name="adj" fmla="val 9091"/>
            </a:avLst>
          </a:prstGeom>
          <a:solidFill>
            <a:srgbClr val="152B42"/>
          </a:solidFill>
          <a:ln w="10160">
            <a:solidFill>
              <a:srgbClr val="152B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14816" y="5330952"/>
            <a:ext cx="204825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작은 행동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77879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출처: Cannistrà et al.(2024) E-02; Kast·Meier·Pomeranz E-03; Beshears et al. NBER w17345 E-04. FinMate 효과가 아님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996"/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7"/>
          </a:solidFill>
          <a:ln w="12700">
            <a:solidFill>
              <a:srgbClr val="F4F9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02336"/>
            <a:ext cx="73152" cy="329184"/>
          </a:xfrm>
          <a:prstGeom prst="rect">
            <a:avLst/>
          </a:prstGeom>
          <a:solidFill>
            <a:srgbClr val="009B82"/>
          </a:solidFill>
          <a:ln w="12700">
            <a:solidFill>
              <a:srgbClr val="009B8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840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SOLUTION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06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FinMate는 루틴 발견부터 실제 기록까지 한 흐름으로 닫습니다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682496"/>
            <a:ext cx="3273552" cy="1115568"/>
          </a:xfrm>
          <a:prstGeom prst="roundRect">
            <a:avLst>
              <a:gd name="adj" fmla="val 4098"/>
            </a:avLst>
          </a:prstGeom>
          <a:solidFill>
            <a:srgbClr val="E8F1FF"/>
          </a:solidFill>
          <a:ln w="10160">
            <a:solidFill>
              <a:srgbClr val="3378E6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847088"/>
            <a:ext cx="420624" cy="420624"/>
          </a:xfrm>
          <a:prstGeom prst="ellipse">
            <a:avLst/>
          </a:prstGeom>
          <a:solidFill>
            <a:srgbClr val="3378E6"/>
          </a:solidFill>
          <a:ln w="12700">
            <a:solidFill>
              <a:srgbClr val="3378E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883664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53312" y="1837944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추천 모험가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53312" y="2212848"/>
            <a:ext cx="23408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비슷한 출발점·검증된 루틴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4453128" y="1682496"/>
            <a:ext cx="3273552" cy="1115568"/>
          </a:xfrm>
          <a:prstGeom prst="roundRect">
            <a:avLst>
              <a:gd name="adj" fmla="val 4098"/>
            </a:avLst>
          </a:prstGeom>
          <a:solidFill>
            <a:srgbClr val="EDF9F5"/>
          </a:solidFill>
          <a:ln w="10160">
            <a:solidFill>
              <a:srgbClr val="009B82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847088"/>
            <a:ext cx="420624" cy="420624"/>
          </a:xfrm>
          <a:prstGeom prst="ellipse">
            <a:avLst/>
          </a:prstGeom>
          <a:solidFill>
            <a:srgbClr val="009B82"/>
          </a:solidFill>
          <a:ln w="12700">
            <a:solidFill>
              <a:srgbClr val="009B8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883664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66360" y="1837944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내 목표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166360" y="2212848"/>
            <a:ext cx="23408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코드 후보 3개·사용자 확정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8266176" y="1682496"/>
            <a:ext cx="3273552" cy="1115568"/>
          </a:xfrm>
          <a:prstGeom prst="roundRect">
            <a:avLst>
              <a:gd name="adj" fmla="val 4098"/>
            </a:avLst>
          </a:prstGeom>
          <a:solidFill>
            <a:srgbClr val="FFF5DC"/>
          </a:solidFill>
          <a:ln w="10160">
            <a:solidFill>
              <a:srgbClr val="E7AD3C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30768" y="1847088"/>
            <a:ext cx="420624" cy="420624"/>
          </a:xfrm>
          <a:prstGeom prst="ellipse">
            <a:avLst/>
          </a:prstGeom>
          <a:solidFill>
            <a:srgbClr val="E7AD3C"/>
          </a:solidFill>
          <a:ln w="12700">
            <a:solidFill>
              <a:srgbClr val="E7AD3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0768" y="1883664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79408" y="1837944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자동 레이드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979408" y="2212848"/>
            <a:ext cx="23408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실제 진행률을 짧게 번역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640080" y="3383280"/>
            <a:ext cx="3273552" cy="1115568"/>
          </a:xfrm>
          <a:prstGeom prst="roundRect">
            <a:avLst>
              <a:gd name="adj" fmla="val 4098"/>
            </a:avLst>
          </a:prstGeom>
          <a:solidFill>
            <a:srgbClr val="FDEBE8"/>
          </a:solidFill>
          <a:ln w="10160">
            <a:solidFill>
              <a:srgbClr val="E96F63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" y="3547872"/>
            <a:ext cx="420624" cy="420624"/>
          </a:xfrm>
          <a:prstGeom prst="ellipse">
            <a:avLst/>
          </a:prstGeom>
          <a:solidFill>
            <a:srgbClr val="E96F63"/>
          </a:solidFill>
          <a:ln w="12700">
            <a:solidFill>
              <a:srgbClr val="E96F6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58444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53312" y="3538728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퀘스트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353312" y="3913632"/>
            <a:ext cx="23408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목표에 연결된 작은 행동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4453128" y="3383280"/>
            <a:ext cx="3273552" cy="1115568"/>
          </a:xfrm>
          <a:prstGeom prst="roundRect">
            <a:avLst>
              <a:gd name="adj" fmla="val 4098"/>
            </a:avLst>
          </a:prstGeom>
          <a:solidFill>
            <a:srgbClr val="EFECFF"/>
          </a:solidFill>
          <a:ln w="10160">
            <a:solidFill>
              <a:srgbClr val="7768D8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3547872"/>
            <a:ext cx="420624" cy="420624"/>
          </a:xfrm>
          <a:prstGeom prst="ellipse">
            <a:avLst/>
          </a:prstGeom>
          <a:solidFill>
            <a:srgbClr val="7768D8"/>
          </a:solidFill>
          <a:ln w="12700">
            <a:solidFill>
              <a:srgbClr val="7768D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358444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66360" y="3538728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데이터 반영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166360" y="3913632"/>
            <a:ext cx="23408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동기화 후 코드 재계산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8266176" y="3383280"/>
            <a:ext cx="3273552" cy="1115568"/>
          </a:xfrm>
          <a:prstGeom prst="roundRect">
            <a:avLst>
              <a:gd name="adj" fmla="val 4098"/>
            </a:avLst>
          </a:prstGeom>
          <a:solidFill>
            <a:srgbClr val="EDF9F5"/>
          </a:solidFill>
          <a:ln w="10160">
            <a:solidFill>
              <a:srgbClr val="009B82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430768" y="3547872"/>
            <a:ext cx="420624" cy="420624"/>
          </a:xfrm>
          <a:prstGeom prst="ellipse">
            <a:avLst/>
          </a:prstGeom>
          <a:solidFill>
            <a:srgbClr val="009B82"/>
          </a:solidFill>
          <a:ln w="12700">
            <a:solidFill>
              <a:srgbClr val="009B82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30768" y="358444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979408" y="3538728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30일 기록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979408" y="3913632"/>
            <a:ext cx="23408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오늘 행동과 목표 이력 회고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1051560" y="5230368"/>
            <a:ext cx="10058400" cy="676656"/>
          </a:xfrm>
          <a:prstGeom prst="roundRect">
            <a:avLst>
              <a:gd name="adj" fmla="val 6757"/>
            </a:avLst>
          </a:prstGeom>
          <a:solidFill>
            <a:srgbClr val="152B42"/>
          </a:solidFill>
          <a:ln w="10160">
            <a:solidFill>
              <a:srgbClr val="152B42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325880" y="5431536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사회적 호기심 → 개인화 목표 → 실제 금융행동 → 이해 가능한 기록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996"/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B42"/>
          </a:solidFill>
          <a:ln w="12700">
            <a:solidFill>
              <a:srgbClr val="152B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9377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F5E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90초 시연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추천 모험가 → 목표 확정 → 레이드 → 퀘스트 → 기록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" y="1627632"/>
            <a:ext cx="3364992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7393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16736" y="1755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목표 없는 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2157984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0–8초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517136" y="1627632"/>
            <a:ext cx="3364992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81728" y="177393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84064" y="1755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비교 탐색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0016" y="2157984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8–20초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284464" y="1627632"/>
            <a:ext cx="3364992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49056" y="177393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851392" y="1755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루틴 선택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67344" y="2157984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20–32초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49808" y="2834640"/>
            <a:ext cx="3364992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298094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16736" y="29626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목표 후보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3364992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32–44초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517136" y="2834640"/>
            <a:ext cx="3364992" cy="877824"/>
          </a:xfrm>
          <a:prstGeom prst="roundRect">
            <a:avLst>
              <a:gd name="adj" fmla="val 5208"/>
            </a:avLst>
          </a:prstGeom>
          <a:solidFill>
            <a:srgbClr val="DCF5ED"/>
          </a:solidFill>
          <a:ln w="10160">
            <a:solidFill>
              <a:srgbClr val="009B82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81728" y="298094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84064" y="29626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목표 확정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0016" y="3364992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44–54초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8284464" y="2834640"/>
            <a:ext cx="3364992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49056" y="298094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851392" y="29626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자동 레이드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67344" y="3364992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54–64초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749808" y="4041648"/>
            <a:ext cx="3364992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14400" y="418795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7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316736" y="4169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연결 퀘스트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2688" y="4572000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64–74초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4517136" y="4041648"/>
            <a:ext cx="3364992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681728" y="418795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8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84064" y="4169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동기화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00016" y="4572000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74–84초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8284464" y="4041648"/>
            <a:ext cx="3364992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449056" y="418795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9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851392" y="4169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기록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467344" y="4572000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84–90초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3182112" y="5358384"/>
            <a:ext cx="5833872" cy="420624"/>
          </a:xfrm>
          <a:prstGeom prst="roundRect">
            <a:avLst>
              <a:gd name="adj" fmla="val 8696"/>
            </a:avLst>
          </a:prstGeom>
          <a:solidFill>
            <a:srgbClr val="FFF5DC"/>
          </a:solidFill>
          <a:ln w="10160">
            <a:solidFill>
              <a:srgbClr val="E7AD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82112" y="5367528"/>
            <a:ext cx="583387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합성데이터 기반 프로토타입 · 실제 API 미연동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996"/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7"/>
          </a:solidFill>
          <a:ln w="12700">
            <a:solidFill>
              <a:srgbClr val="F4F9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02336"/>
            <a:ext cx="73152" cy="329184"/>
          </a:xfrm>
          <a:prstGeom prst="rect">
            <a:avLst/>
          </a:prstGeom>
          <a:solidFill>
            <a:srgbClr val="009B82"/>
          </a:solidFill>
          <a:ln w="12700">
            <a:solidFill>
              <a:srgbClr val="009B8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840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EXPLAINABILITY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06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목표는 AI가 만들지 않고 검수된 템플릿이 개인화합니다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03504" y="1700784"/>
            <a:ext cx="2542032" cy="1883664"/>
          </a:xfrm>
          <a:prstGeom prst="roundRect">
            <a:avLst>
              <a:gd name="adj" fmla="val 2427"/>
            </a:avLst>
          </a:prstGeom>
          <a:solidFill>
            <a:srgbClr val="E8F1FF"/>
          </a:solidFill>
          <a:ln w="10160">
            <a:solidFill>
              <a:srgbClr val="3378E6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199339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78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템플릿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7824" y="272491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허용 지표·범위·기간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82112" y="2651760"/>
            <a:ext cx="256032" cy="0"/>
          </a:xfrm>
          <a:prstGeom prst="line">
            <a:avLst/>
          </a:prstGeom>
          <a:noFill/>
          <a:ln w="25400">
            <a:solidFill>
              <a:srgbClr val="009B8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02152" y="1700784"/>
            <a:ext cx="2542032" cy="1883664"/>
          </a:xfrm>
          <a:prstGeom prst="roundRect">
            <a:avLst>
              <a:gd name="adj" fmla="val 2427"/>
            </a:avLst>
          </a:prstGeom>
          <a:solidFill>
            <a:srgbClr val="EDF9F5"/>
          </a:solidFill>
          <a:ln w="10160">
            <a:solidFill>
              <a:srgbClr val="009B82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58184" y="199339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코드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76472" y="272491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기준값·후보·진행률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2651760"/>
            <a:ext cx="256032" cy="0"/>
          </a:xfrm>
          <a:prstGeom prst="line">
            <a:avLst/>
          </a:prstGeom>
          <a:noFill/>
          <a:ln w="25400">
            <a:solidFill>
              <a:srgbClr val="009B8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0" y="1700784"/>
            <a:ext cx="2542032" cy="1883664"/>
          </a:xfrm>
          <a:prstGeom prst="roundRect">
            <a:avLst>
              <a:gd name="adj" fmla="val 2427"/>
            </a:avLst>
          </a:prstGeom>
          <a:solidFill>
            <a:srgbClr val="EFECFF"/>
          </a:solidFill>
          <a:ln w="10160">
            <a:solidFill>
              <a:srgbClr val="7768D8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56832" y="199339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768D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75120" y="272491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후보 순위·이유 설명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79408" y="2651760"/>
            <a:ext cx="256032" cy="0"/>
          </a:xfrm>
          <a:prstGeom prst="line">
            <a:avLst/>
          </a:prstGeom>
          <a:noFill/>
          <a:ln w="25400">
            <a:solidFill>
              <a:srgbClr val="009B8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299448" y="1700784"/>
            <a:ext cx="2542032" cy="1883664"/>
          </a:xfrm>
          <a:prstGeom prst="roundRect">
            <a:avLst>
              <a:gd name="adj" fmla="val 2427"/>
            </a:avLst>
          </a:prstGeom>
          <a:solidFill>
            <a:srgbClr val="FFF5DC"/>
          </a:solidFill>
          <a:ln w="10160">
            <a:solidFill>
              <a:srgbClr val="E7AD3C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555480" y="199339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AD3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사용자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73768" y="272491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최종 확정·중지·재개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" y="4087368"/>
            <a:ext cx="10588752" cy="1353312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78992" y="451713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저축률 기준 8%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2871216" y="4709160"/>
            <a:ext cx="585216" cy="0"/>
          </a:xfrm>
          <a:prstGeom prst="line">
            <a:avLst/>
          </a:prstGeom>
          <a:noFill/>
          <a:ln w="25400">
            <a:solidFill>
              <a:srgbClr val="009B8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675888" y="4489704"/>
            <a:ext cx="1627632" cy="438912"/>
          </a:xfrm>
          <a:prstGeom prst="roundRect">
            <a:avLst>
              <a:gd name="adj" fmla="val 8333"/>
            </a:avLst>
          </a:prstGeom>
          <a:solidFill>
            <a:srgbClr val="E9EFEC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75888" y="4498848"/>
            <a:ext cx="162763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11% 가볍게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5596128" y="4489704"/>
            <a:ext cx="1627632" cy="438912"/>
          </a:xfrm>
          <a:prstGeom prst="roundRect">
            <a:avLst>
              <a:gd name="adj" fmla="val 8333"/>
            </a:avLst>
          </a:prstGeom>
          <a:solidFill>
            <a:srgbClr val="DCF5ED"/>
          </a:solidFill>
          <a:ln w="10160">
            <a:solidFill>
              <a:srgbClr val="009B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96128" y="4498848"/>
            <a:ext cx="162763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B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14% 표준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7516368" y="4489704"/>
            <a:ext cx="1627632" cy="438912"/>
          </a:xfrm>
          <a:prstGeom prst="roundRect">
            <a:avLst>
              <a:gd name="adj" fmla="val 8333"/>
            </a:avLst>
          </a:prstGeom>
          <a:solidFill>
            <a:srgbClr val="E9EFEC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16368" y="4498848"/>
            <a:ext cx="162763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17% 도전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9729216" y="453542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사용자 확정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" y="6473952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77879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예시는 목표 생성 책임을 설명하는 목업. E-10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996"/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7"/>
          </a:solidFill>
          <a:ln w="12700">
            <a:solidFill>
              <a:srgbClr val="F4F9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02336"/>
            <a:ext cx="73152" cy="329184"/>
          </a:xfrm>
          <a:prstGeom prst="rect">
            <a:avLst/>
          </a:prstGeom>
          <a:solidFill>
            <a:srgbClr val="009B82"/>
          </a:solidFill>
          <a:ln w="12700">
            <a:solidFill>
              <a:srgbClr val="009B8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840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FEASIBILITY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06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새 경험 아래에는 검증 가능한 계약과 계산이 있습니다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76656" y="1691640"/>
            <a:ext cx="3401568" cy="1993392"/>
          </a:xfrm>
          <a:prstGeom prst="roundRect">
            <a:avLst>
              <a:gd name="adj" fmla="val 2294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2084832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199명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77824" y="264261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합성 사용자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296265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기존 검증 자산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453128" y="1691640"/>
            <a:ext cx="3401568" cy="1993392"/>
          </a:xfrm>
          <a:prstGeom prst="roundRect">
            <a:avLst>
              <a:gd name="adj" fmla="val 2294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54296" y="2084832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78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23,041건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54296" y="264261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앱 import 거래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296265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기존 검증 자산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401568" cy="1993392"/>
          </a:xfrm>
          <a:prstGeom prst="roundRect">
            <a:avLst>
              <a:gd name="adj" fmla="val 2294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30768" y="2084832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AD3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20문항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430768" y="264261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AI 평가용 골든셋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30768" y="296265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실행 결과가 아닌 평가 자산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76656" y="4169664"/>
            <a:ext cx="10972800" cy="1234440"/>
          </a:xfrm>
          <a:prstGeom prst="roundRect">
            <a:avLst>
              <a:gd name="adj" fmla="val 3704"/>
            </a:avLst>
          </a:prstGeom>
          <a:solidFill>
            <a:srgbClr val="152B42"/>
          </a:solidFill>
          <a:ln w="10160">
            <a:solidFill>
              <a:srgbClr val="152B42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41832" y="4553712"/>
            <a:ext cx="1664208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4562856"/>
            <a:ext cx="166420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OpenAPI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2651760" y="4764024"/>
            <a:ext cx="228600" cy="0"/>
          </a:xfrm>
          <a:prstGeom prst="line">
            <a:avLst/>
          </a:prstGeom>
          <a:noFill/>
          <a:ln w="25400">
            <a:solidFill>
              <a:srgbClr val="DCF5E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063240" y="4553712"/>
            <a:ext cx="1664208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63240" y="4562856"/>
            <a:ext cx="166420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합성 어댑터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773168" y="4764024"/>
            <a:ext cx="228600" cy="0"/>
          </a:xfrm>
          <a:prstGeom prst="line">
            <a:avLst/>
          </a:prstGeom>
          <a:noFill/>
          <a:ln w="25400">
            <a:solidFill>
              <a:srgbClr val="DCF5ED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184648" y="4553712"/>
            <a:ext cx="1664208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84648" y="4562856"/>
            <a:ext cx="166420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결정적 계산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894576" y="4764024"/>
            <a:ext cx="228600" cy="0"/>
          </a:xfrm>
          <a:prstGeom prst="line">
            <a:avLst/>
          </a:prstGeom>
          <a:noFill/>
          <a:ln w="25400">
            <a:solidFill>
              <a:srgbClr val="DCF5E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306056" y="4553712"/>
            <a:ext cx="1664208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06056" y="4562856"/>
            <a:ext cx="166420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골든 테스트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9015984" y="4764024"/>
            <a:ext cx="228600" cy="0"/>
          </a:xfrm>
          <a:prstGeom prst="line">
            <a:avLst/>
          </a:prstGeom>
          <a:noFill/>
          <a:ln w="25400">
            <a:solidFill>
              <a:srgbClr val="DCF5ED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427464" y="4553712"/>
            <a:ext cx="1664208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27464" y="4562856"/>
            <a:ext cx="166420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핵심 E2E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566928" y="6473952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77879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E-05·E-07. 합성 import는 기술 검증, 20문항은 평가 준비 자산이며 실제 사용자 효과가 아님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996"/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7"/>
          </a:solidFill>
          <a:ln w="12700">
            <a:solidFill>
              <a:srgbClr val="F4F9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02336"/>
            <a:ext cx="73152" cy="329184"/>
          </a:xfrm>
          <a:prstGeom prst="rect">
            <a:avLst/>
          </a:prstGeom>
          <a:solidFill>
            <a:srgbClr val="009B82"/>
          </a:solidFill>
          <a:ln w="12700">
            <a:solidFill>
              <a:srgbClr val="009B8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840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SAFETY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06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게임은 행동을 돕고 금융 판단을 대신하지 않습니다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700784"/>
            <a:ext cx="5230368" cy="3895344"/>
          </a:xfrm>
          <a:prstGeom prst="roundRect">
            <a:avLst>
              <a:gd name="adj" fmla="val 1174"/>
            </a:avLst>
          </a:prstGeom>
          <a:solidFill>
            <a:srgbClr val="EDF9F5"/>
          </a:solidFill>
          <a:ln w="10160">
            <a:solidFill>
              <a:srgbClr val="009B82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91072" y="1700784"/>
            <a:ext cx="5230368" cy="3895344"/>
          </a:xfrm>
          <a:prstGeom prst="roundRect">
            <a:avLst>
              <a:gd name="adj" fmla="val 1174"/>
            </a:avLst>
          </a:prstGeom>
          <a:solidFill>
            <a:srgbClr val="FDEBE8"/>
          </a:solidFill>
          <a:ln w="10160">
            <a:solidFill>
              <a:srgbClr val="E96F63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19659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DO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65392" y="19659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6F6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DON'T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26700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✓  유사 출발점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3154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✓  사용자 목표 확정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36393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✓  행동형 투자 학습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1239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✓  동의 철회·삭제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46085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✓  마지막 동기화 표시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92824" y="26700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×  정확 잔액·연봉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92824" y="3154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×  공개 순위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92824" y="36393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×  수익률·거래 보상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92824" y="41239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×  AI 자유 목표 생성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92824" y="46085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×  실패 손실·압박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77879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설계 참고: 금융위원회 마이데이터 2.0 E-08, 금융분야 AI 가이드라인 E-09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996"/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7"/>
          </a:solidFill>
          <a:ln w="12700">
            <a:solidFill>
              <a:srgbClr val="F4F9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02336"/>
            <a:ext cx="73152" cy="329184"/>
          </a:xfrm>
          <a:prstGeom prst="rect">
            <a:avLst/>
          </a:prstGeom>
          <a:solidFill>
            <a:srgbClr val="009B82"/>
          </a:solidFill>
          <a:ln w="12700">
            <a:solidFill>
              <a:srgbClr val="009B8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840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406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첫 검증은 목표 확정과 첫 행동 사이의 전환을 봅니다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1975104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99339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카드 상세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4597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발견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51760" y="2331720"/>
            <a:ext cx="201168" cy="0"/>
          </a:xfrm>
          <a:prstGeom prst="line">
            <a:avLst/>
          </a:prstGeom>
          <a:noFill/>
          <a:ln w="25400">
            <a:solidFill>
              <a:srgbClr val="009B8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26080" y="1737360"/>
            <a:ext cx="1975104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72384" y="199339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루틴 선택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72384" y="24597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이해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19472" y="2331720"/>
            <a:ext cx="201168" cy="0"/>
          </a:xfrm>
          <a:prstGeom prst="line">
            <a:avLst/>
          </a:prstGeom>
          <a:noFill/>
          <a:ln w="25400">
            <a:solidFill>
              <a:srgbClr val="009B8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93792" y="1737360"/>
            <a:ext cx="1975104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40096" y="199339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목표 확정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0096" y="24597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결정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87184" y="2331720"/>
            <a:ext cx="201168" cy="0"/>
          </a:xfrm>
          <a:prstGeom prst="line">
            <a:avLst/>
          </a:prstGeom>
          <a:noFill/>
          <a:ln w="25400">
            <a:solidFill>
              <a:srgbClr val="009B8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61504" y="1737360"/>
            <a:ext cx="1975104" cy="1188720"/>
          </a:xfrm>
          <a:prstGeom prst="roundRect">
            <a:avLst>
              <a:gd name="adj" fmla="val 3846"/>
            </a:avLst>
          </a:prstGeom>
          <a:solidFill>
            <a:srgbClr val="EDF9F5"/>
          </a:solidFill>
          <a:ln w="10160">
            <a:solidFill>
              <a:srgbClr val="009B82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607808" y="199339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첫 행동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07808" y="24597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실행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454896" y="2331720"/>
            <a:ext cx="201168" cy="0"/>
          </a:xfrm>
          <a:prstGeom prst="line">
            <a:avLst/>
          </a:prstGeom>
          <a:noFill/>
          <a:ln w="25400">
            <a:solidFill>
              <a:srgbClr val="009B8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729216" y="1737360"/>
            <a:ext cx="1975104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875520" y="199339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4주 유지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0" y="24597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지속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8368" y="3493008"/>
            <a:ext cx="6748272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0160">
            <a:solidFill>
              <a:srgbClr val="D8E4DF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2688" y="37673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B8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핵심 KPI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32688" y="4315968"/>
            <a:ext cx="2615184" cy="384048"/>
          </a:xfrm>
          <a:prstGeom prst="roundRect">
            <a:avLst>
              <a:gd name="adj" fmla="val 9524"/>
            </a:avLst>
          </a:prstGeom>
          <a:solidFill>
            <a:srgbClr val="EDF9F5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4325112"/>
            <a:ext cx="26151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06B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카드→루틴 상세 전환율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3895344" y="4315968"/>
            <a:ext cx="2615184" cy="384048"/>
          </a:xfrm>
          <a:prstGeom prst="roundRect">
            <a:avLst>
              <a:gd name="adj" fmla="val 9524"/>
            </a:avLst>
          </a:prstGeom>
          <a:solidFill>
            <a:srgbClr val="EDF9F5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95344" y="4325112"/>
            <a:ext cx="26151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06B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목표 확정률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932688" y="4910328"/>
            <a:ext cx="2615184" cy="384048"/>
          </a:xfrm>
          <a:prstGeom prst="roundRect">
            <a:avLst>
              <a:gd name="adj" fmla="val 9524"/>
            </a:avLst>
          </a:prstGeom>
          <a:solidFill>
            <a:srgbClr val="EDF9F5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" y="4919472"/>
            <a:ext cx="26151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06B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검증된 첫 행동 완료율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3895344" y="4910328"/>
            <a:ext cx="2615184" cy="384048"/>
          </a:xfrm>
          <a:prstGeom prst="roundRect">
            <a:avLst>
              <a:gd name="adj" fmla="val 9524"/>
            </a:avLst>
          </a:prstGeom>
          <a:solidFill>
            <a:srgbClr val="EDF9F5"/>
          </a:solidFill>
          <a:ln w="10160">
            <a:solidFill>
              <a:srgbClr val="D8E4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95344" y="4919472"/>
            <a:ext cx="261518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06B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4주 습관 유지율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7754112" y="3493008"/>
            <a:ext cx="3749040" cy="1920240"/>
          </a:xfrm>
          <a:prstGeom prst="roundRect">
            <a:avLst>
              <a:gd name="adj" fmla="val 2381"/>
            </a:avLst>
          </a:prstGeom>
          <a:solidFill>
            <a:srgbClr val="FDEBE8"/>
          </a:solidFill>
          <a:ln w="10160">
            <a:solidFill>
              <a:srgbClr val="E96F63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046720" y="37673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6F6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가드레일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065008" y="4261104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비교 압박</a:t>
            </a:r>
            <a:endParaRPr lang="en-US" sz="1040" dirty="0"/>
          </a:p>
        </p:txBody>
      </p:sp>
      <p:sp>
        <p:nvSpPr>
          <p:cNvPr id="38" name="Text 36"/>
          <p:cNvSpPr/>
          <p:nvPr/>
        </p:nvSpPr>
        <p:spPr>
          <a:xfrm>
            <a:off x="8065008" y="457200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데이터 불일치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8065008" y="4882896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목표 수정·거절</a:t>
            </a:r>
            <a:endParaRPr lang="en-US" sz="1040" dirty="0"/>
          </a:p>
        </p:txBody>
      </p:sp>
      <p:sp>
        <p:nvSpPr>
          <p:cNvPr id="40" name="Text 38"/>
          <p:cNvSpPr/>
          <p:nvPr/>
        </p:nvSpPr>
        <p:spPr>
          <a:xfrm>
            <a:off x="8065008" y="5193792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투자 유도 문구 0건</a:t>
            </a:r>
            <a:endParaRPr lang="en-US" sz="1040" dirty="0"/>
          </a:p>
        </p:txBody>
      </p:sp>
      <p:sp>
        <p:nvSpPr>
          <p:cNvPr id="41" name="Text 39"/>
          <p:cNvSpPr/>
          <p:nvPr/>
        </p:nvSpPr>
        <p:spPr>
          <a:xfrm>
            <a:off x="566928" y="6473952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77879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100명·4주는 팀의 파일럿 제안치이며 실행 결과가 아님. E-11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996"/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914400"/>
            <a:ext cx="5715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사회적 호기심을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작은 금융행동으로 바꾸겠습니다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8096" y="2560320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18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금융진입장벽을 느끼는 청년들에게 사회적 호기심과 동기를 유발하여 금융친화력을 길러준다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638544" y="749808"/>
            <a:ext cx="4700016" cy="5138928"/>
          </a:xfrm>
          <a:prstGeom prst="roundRect">
            <a:avLst>
              <a:gd name="adj" fmla="val 973"/>
            </a:avLst>
          </a:prstGeom>
          <a:solidFill>
            <a:srgbClr val="152B42"/>
          </a:solidFill>
          <a:ln w="10160">
            <a:solidFill>
              <a:srgbClr val="152B42"/>
            </a:solidFill>
            <a:prstDash val="solid"/>
          </a:ln>
          <a:effectLst>
            <a:outerShdw sx="100000" sy="100000" kx="0" ky="0" algn="bl" rotWithShape="0" blurRad="12700" dist="50800" dir="2700000">
              <a:srgbClr val="A8B7B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59168" y="125272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59168" y="13716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36992" y="12344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F5E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계약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36992" y="166420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OpenAPI·계산·mock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42632" y="1883664"/>
            <a:ext cx="0" cy="768096"/>
          </a:xfrm>
          <a:prstGeom prst="line">
            <a:avLst/>
          </a:prstGeom>
          <a:noFill/>
          <a:ln w="25400">
            <a:solidFill>
              <a:srgbClr val="DCF5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59168" y="2670048"/>
            <a:ext cx="566928" cy="566928"/>
          </a:xfrm>
          <a:prstGeom prst="ellipse">
            <a:avLst/>
          </a:prstGeom>
          <a:solidFill>
            <a:srgbClr val="009B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59168" y="27889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936992" y="26517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F5E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MVP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36992" y="308152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핵심 루프·E2E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42632" y="3300984"/>
            <a:ext cx="0" cy="768096"/>
          </a:xfrm>
          <a:prstGeom prst="line">
            <a:avLst/>
          </a:prstGeom>
          <a:noFill/>
          <a:ln w="25400">
            <a:solidFill>
              <a:srgbClr val="DCF5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59168" y="408736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59168" y="42062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36992" y="40690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F5E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검증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36992" y="449884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사용성·4주 파일럿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8096" y="4709160"/>
            <a:ext cx="1965960" cy="438912"/>
          </a:xfrm>
          <a:prstGeom prst="roundRect">
            <a:avLst>
              <a:gd name="adj" fmla="val 8333"/>
            </a:avLst>
          </a:prstGeom>
          <a:solidFill>
            <a:srgbClr val="DCF5ED"/>
          </a:solidFill>
          <a:ln w="10160">
            <a:solidFill>
              <a:srgbClr val="009B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718304"/>
            <a:ext cx="19659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B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FinMate vNext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8096" y="60716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가가제작소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6473952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77879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4주 파일럿은 MVP 이후 검증을 위한 팀 제안치. E-11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92240"/>
            <a:ext cx="36576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996"/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가가제작소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FinMate vNext 외부 발표 초안</dc:title>
  <dc:subject>추천 모험가 루틴 기반 금융 습관 서비스</dc:subject>
  <dc:creator>FinMate · 가가제작소</dc:creator>
  <cp:lastModifiedBy>FinMate · 가가제작소</cp:lastModifiedBy>
  <cp:revision>1</cp:revision>
  <dcterms:created xsi:type="dcterms:W3CDTF">2026-07-12T08:24:11Z</dcterms:created>
  <dcterms:modified xsi:type="dcterms:W3CDTF">2026-07-12T08:24:11Z</dcterms:modified>
</cp:coreProperties>
</file>